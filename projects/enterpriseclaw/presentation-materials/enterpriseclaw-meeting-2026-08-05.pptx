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41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874A"/>
                </a:solidFill>
              </a:rPr>
              <a:t>SCOUT / OPENCLAW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Scout + OpenClaw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September alignment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94944" y="28803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DA"/>
                </a:solidFill>
              </a:rPr>
              <a:t>Six shared priorities for scaling Scout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3456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AB9C4"/>
                </a:solidFill>
              </a:rPr>
              <a:t>Build on what works. Align the next supported steps together.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52360" y="777240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17242E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9248" y="868680"/>
            <a:ext cx="438912" cy="438912"/>
          </a:xfrm>
          <a:prstGeom prst="ellipse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9601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75904" y="978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STATE / SQL + DOLT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618488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17242E"/>
          </a:solidFill>
          <a:ln w="11430">
            <a:solidFill>
              <a:srgbClr val="1C7C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99248" y="1709928"/>
            <a:ext cx="438912" cy="438912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9248" y="18013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75904" y="1819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MEMORY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52360" y="2459736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17242E"/>
          </a:solidFill>
          <a:ln w="11430">
            <a:solidFill>
              <a:srgbClr val="B64C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99248" y="2551176"/>
            <a:ext cx="438912" cy="438912"/>
          </a:xfrm>
          <a:prstGeom prst="ellipse">
            <a:avLst/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6426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75904" y="2660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MEMORY ACL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52360" y="3300984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17242E"/>
          </a:solidFill>
          <a:ln w="11430">
            <a:solidFill>
              <a:srgbClr val="4078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99248" y="3392424"/>
            <a:ext cx="438912" cy="438912"/>
          </a:xfrm>
          <a:prstGeom prst="ellipse">
            <a:avLst/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34838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75904" y="3502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MAIL AUTH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452360" y="4142232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17242E"/>
          </a:solidFill>
          <a:ln w="11430">
            <a:solidFill>
              <a:srgbClr val="E5A8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233672"/>
            <a:ext cx="438912" cy="438912"/>
          </a:xfrm>
          <a:prstGeom prst="ellipse">
            <a:avLst/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43251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75904" y="4343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NODE / RUST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452360" y="4983480"/>
            <a:ext cx="3886200" cy="621792"/>
          </a:xfrm>
          <a:prstGeom prst="roundRect">
            <a:avLst>
              <a:gd name="adj" fmla="val 8824"/>
            </a:avLst>
          </a:prstGeom>
          <a:solidFill>
            <a:srgbClr val="17242E"/>
          </a:solidFill>
          <a:ln w="11430">
            <a:solidFill>
              <a:srgbClr val="4786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9248" y="5074920"/>
            <a:ext cx="438912" cy="438912"/>
          </a:xfrm>
          <a:prstGeom prst="ellipse">
            <a:avLst/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51663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75904" y="5184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CLAWS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4944" y="61722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AD"/>
                </a:solidFill>
              </a:rPr>
              <a:t>Peter + Vincent discussion | 5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MEETING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Omar's six topics are the agenda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Scout September alignment request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2E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82496"/>
            <a:ext cx="438912" cy="438912"/>
          </a:xfrm>
          <a:prstGeom prst="ellipse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739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5727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95D32"/>
                </a:solidFill>
              </a:rPr>
              <a:t>STATE / SQL + DOLT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19568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What survives? Who writes? How does restore work?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4496" y="1353312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682496"/>
            <a:ext cx="438912" cy="438912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7739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50608" y="15727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C7C7D"/>
                </a:solidFill>
              </a:rPr>
              <a:t>MEMORY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50608" y="19568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One source of truth, useful recall, portable continuity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2770632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3DEDA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099816"/>
            <a:ext cx="438912" cy="438912"/>
          </a:xfrm>
          <a:prstGeom prst="ellipse">
            <a:avLst/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1912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29900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64C4C"/>
                </a:solidFill>
              </a:rPr>
              <a:t>MEMORY ACL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374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Who can retrieve, change, revoke, and audit memory?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54496" y="2770632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0528" y="3099816"/>
            <a:ext cx="438912" cy="438912"/>
          </a:xfrm>
          <a:prstGeom prst="ellipse">
            <a:avLst/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1912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50608" y="29900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078A5"/>
                </a:solidFill>
              </a:rPr>
              <a:t>MAIL AUTH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0608" y="3374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Identity, consent, mailbox scope, and send authority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" y="4187952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7D6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4517136"/>
            <a:ext cx="438912" cy="438912"/>
          </a:xfrm>
          <a:prstGeom prst="ellipse">
            <a:avLst/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608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4480" y="4407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5A83B"/>
                </a:solidFill>
              </a:rPr>
              <a:t>NODE / RUST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47914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Supported profile, compatibility, lifecycle, and ownership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54496" y="4187952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DCE9DF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10528" y="4517136"/>
            <a:ext cx="438912" cy="438912"/>
          </a:xfrm>
          <a:prstGeom prst="ellipse">
            <a:avLst/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4608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50608" y="44074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865B"/>
                </a:solidFill>
              </a:rPr>
              <a:t>CLAWS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50608" y="47914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Versioned setup with independent package requirements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State comes first because every other topic depends on durable ownership and recovery.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TOPIC 1 | STATE / SQL + DOLT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State first: decide durability before choosing a database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State Continuity RFC #46 | OpenClaw issue #114145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5166360" cy="4160520"/>
          </a:xfrm>
          <a:prstGeom prst="roundRect">
            <a:avLst>
              <a:gd name="adj" fmla="val 1319"/>
            </a:avLst>
          </a:prstGeom>
          <a:solidFill>
            <a:srgbClr val="FFF2E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7007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D32"/>
                </a:solidFill>
              </a:rPr>
              <a:t>WHAT MUST SURVIVE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" y="2267712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368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MEMORY +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82696" y="2267712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23682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SESSIONS + CONTEXT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42416" y="3017520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11810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CRON + PENDING 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82696" y="3017520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311810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CONFIG + POLICY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42416" y="3767328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3867912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AUDIT + RECOVERY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4800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12B"/>
                </a:solidFill>
              </a:rPr>
              <a:t>The container may disappear. The agent's durable state cannot.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44768" y="1353312"/>
            <a:ext cx="5394960" cy="4160520"/>
          </a:xfrm>
          <a:prstGeom prst="roundRect">
            <a:avLst>
              <a:gd name="adj" fmla="val 1319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1700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C7D"/>
                </a:solidFill>
              </a:rPr>
              <a:t>THE CONTRACT WE NEED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2240280"/>
            <a:ext cx="425196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88595" indent="-188595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</a:rPr>
              <a:t>name the canonical owner for every state class</a:t>
            </a:r>
            <a:endParaRPr lang="en-US" sz="1350" dirty="0"/>
          </a:p>
          <a:p>
            <a:pPr marL="188595" indent="-188595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</a:rPr>
              <a:t>stop cleanly and capture a complete recovery point</a:t>
            </a:r>
            <a:endParaRPr lang="en-US" sz="1350" dirty="0"/>
          </a:p>
          <a:p>
            <a:pPr marL="188595" indent="-188595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</a:rPr>
              <a:t>restore only into a compatible runtime and schema</a:t>
            </a:r>
            <a:endParaRPr lang="en-US" sz="1350" dirty="0"/>
          </a:p>
          <a:p>
            <a:pPr marL="188595" indent="-188595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</a:rPr>
              <a:t>admit work only after restore and readiness checks</a:t>
            </a:r>
            <a:endParaRPr lang="en-US" sz="1350" dirty="0"/>
          </a:p>
          <a:p>
            <a:pPr marL="188595" indent="-188595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</a:rPr>
              <a:t>retain messages and schedules while compute is absent</a:t>
            </a:r>
            <a:endParaRPr lang="en-US" sz="1350" dirty="0"/>
          </a:p>
          <a:p>
            <a:pPr marL="188595" indent="-188595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</a:rPr>
              <a:t>prevent duplicate ownership of the same agent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Decision: define state and lifecycle guarantees first; then choose the right storage for each state owner.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TOPIC 1 | DECISION SPACE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Two practical ways to preserve state at scale-to-zero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171907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196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OPTION 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3317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12B"/>
                </a:solidFill>
              </a:rPr>
              <a:t>SHARED / CLOUD STATE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41605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host-backed storage is available while compute is absent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best fit for always-online shared state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simpler wake path once the service is healthy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costs: latency, tenancy, migration, and offline behavior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4983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078A5"/>
                </a:solidFill>
              </a:rPr>
              <a:t>The runtime must support remote ownership without assuming local files are canonical.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190488" y="137160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9672" y="171907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8196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OPTION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9672" y="23317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12B"/>
                </a:solidFill>
              </a:rPr>
              <a:t>SNAPSHOT + RESTORE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3017520"/>
            <a:ext cx="41605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stop cleanly and identify every required state owner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store one complete, versioned recovery artifact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restore and verify before accepting work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costs: wake time, capture completeness, and recovery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47688" y="4983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C7C7D"/>
                </a:solidFill>
              </a:rPr>
              <a:t>This preserves local-first behavior, but only if capture and restore are complete and testable.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OpenClaw should support both patterns; Scout can choose the storage model for each deployment.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TOPIC 2 | 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Memory: inspectable by design, governed by scope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OpenClaw memory assessment | memory-core, Active Memory, QMD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0704" y="17556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1856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CAPTURE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245059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MEMORY.md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and daily notes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419856" y="1444752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22192" y="17556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1856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INDEX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39896" y="245059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keyword, vector,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and hybrid search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81344" y="1444752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FFF7D6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7556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856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RECALL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01384" y="245059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tools or proactive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Active Memory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942832" y="1444752"/>
            <a:ext cx="2487168" cy="1993392"/>
          </a:xfrm>
          <a:prstGeom prst="roundRect">
            <a:avLst>
              <a:gd name="adj" fmla="val 2752"/>
            </a:avLst>
          </a:prstGeom>
          <a:solidFill>
            <a:srgbClr val="DCE9DF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45168" y="17556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1856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CONSOLIDATE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62872" y="2450592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dreaming and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7212B"/>
                </a:solidFill>
              </a:rPr>
              <a:t>human review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051560" y="3822192"/>
            <a:ext cx="10058400" cy="1417320"/>
          </a:xfrm>
          <a:prstGeom prst="roundRect">
            <a:avLst>
              <a:gd name="adj" fmla="val 3871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89888" y="41330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5D32"/>
                </a:solidFill>
              </a:rPr>
              <a:t>SCOUT ADDS GOVERNANCE WHILE PRESERVING INSPECTABILITY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0" y="4005072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105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+ TENANT SCOPE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28432" y="4005072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9872" y="4105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RETENTION + DELETION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0" y="4535424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6360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+ PROVENANCE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28432" y="4535424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46360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PORTABLE CONTINUITY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Decision: keep one canonical memory owner and standard read/write/export hooks; Microsoft supplies governed providers and policy.</a:t>
            </a:r>
            <a:endParaRPr lang="en-US" sz="1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TOPIC 3 | MEMORY ACL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Memory ACL: enforce access at retrieval and mutation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EnterpriseClaw EC-019 | retrieval and mutation authority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3456432" cy="3401568"/>
          </a:xfrm>
          <a:prstGeom prst="roundRect">
            <a:avLst>
              <a:gd name="adj" fmla="val 1613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78408" y="171907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78A5"/>
                </a:solidFill>
              </a:rPr>
              <a:t>WHO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5296" y="2359152"/>
            <a:ext cx="23317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user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agent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app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workspace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tenant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3456432" cy="3401568"/>
          </a:xfrm>
          <a:prstGeom prst="roundRect">
            <a:avLst>
              <a:gd name="adj" fmla="val 1613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71907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C7D"/>
                </a:solidFill>
              </a:rPr>
              <a:t>WHAT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47488" y="2359152"/>
            <a:ext cx="23317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memory item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collection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derived index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shared source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export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02752" y="1371600"/>
            <a:ext cx="3456432" cy="3401568"/>
          </a:xfrm>
          <a:prstGeom prst="roundRect">
            <a:avLst>
              <a:gd name="adj" fmla="val 1613"/>
            </a:avLst>
          </a:prstGeom>
          <a:solidFill>
            <a:srgbClr val="F3DEDA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22792" y="171907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64C4C"/>
                </a:solidFill>
              </a:rPr>
              <a:t>ALLOWED ACTION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0" y="2359152"/>
            <a:ext cx="233172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retrieve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write / correct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share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export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delete / revoke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06240" y="2761488"/>
            <a:ext cx="146304" cy="384048"/>
          </a:xfrm>
          <a:prstGeom prst="chevron">
            <a:avLst/>
          </a:prstGeom>
          <a:solidFill>
            <a:srgbClr val="5F6973"/>
          </a:solidFill>
          <a:ln w="12700">
            <a:solidFill>
              <a:srgbClr val="5F69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2761488"/>
            <a:ext cx="146304" cy="384048"/>
          </a:xfrm>
          <a:prstGeom prst="chevron">
            <a:avLst/>
          </a:prstGeom>
          <a:solidFill>
            <a:srgbClr val="5F6973"/>
          </a:solidFill>
          <a:ln w="12700">
            <a:solidFill>
              <a:srgbClr val="5F69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5193792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C95D32"/>
                </a:solidFill>
              </a:rPr>
              <a:t>Revocation applies to the source record and every derived index or cache.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Decision: memory owners enforce scope and mutation; Microsoft policy supplies tenant rules, classification, and group membership.</a:t>
            </a:r>
            <a:endParaRPr lang="en-US" sz="1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TOPIC 4 | MAIL AUTHENTICATION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Mail authentication: separate sessions from mailbox permissions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Microsoft Graph / Exchange integration assessment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3246120" cy="4069080"/>
          </a:xfrm>
          <a:prstGeom prst="roundRect">
            <a:avLst>
              <a:gd name="adj" fmla="val 1690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078A5"/>
                </a:solidFill>
              </a:rPr>
              <a:t>MAIL THREAD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212B"/>
                </a:solidFill>
              </a:rPr>
              <a:t>Selected, allowlisted thread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7212B"/>
                </a:solidFill>
              </a:rPr>
              <a:t>becomes an OpenClaw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07008" y="388620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9867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SESSION INGRESS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62272" y="1371600"/>
            <a:ext cx="3246120" cy="4069080"/>
          </a:xfrm>
          <a:prstGeom prst="roundRect">
            <a:avLst>
              <a:gd name="adj" fmla="val 1690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91456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7C7D"/>
                </a:solidFill>
              </a:rPr>
              <a:t>MAILBOX TOOLS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20574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search + read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draft reply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send with approval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</a:rPr>
              <a:t>archive / move / delete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10912" y="431596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44165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PROVIDER PLUGIN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66176" y="1371600"/>
            <a:ext cx="3246120" cy="4069080"/>
          </a:xfrm>
          <a:prstGeom prst="roundRect">
            <a:avLst>
              <a:gd name="adj" fmla="val 1690"/>
            </a:avLst>
          </a:prstGeom>
          <a:solidFill>
            <a:srgbClr val="FFF2E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9536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5D32"/>
                </a:solidFill>
              </a:rPr>
              <a:t>AUTHORITY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741664" y="2377440"/>
            <a:ext cx="22402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human, service, or on-behalf-of identity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consent + mailbox scope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token renewal + revocation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recipient and send policy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provider-native audit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Decision: use a Microsoft-owned Graph plugin with standard OpenClaw auth, channel, tool, and approval hooks.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TOPIC 5 | NODE / 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One OpenClaw Rust runtime, multiple native product adopters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OpenClaw RFC PR #54 | architecture adapted from the PR body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2926080" cy="1901952"/>
          </a:xfrm>
          <a:prstGeom prst="roundRect">
            <a:avLst>
              <a:gd name="adj" fmla="val 2885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78408" y="1664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78A5"/>
                </a:solidFill>
              </a:rPr>
              <a:t>AUTHORIZED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078A5"/>
                </a:solidFill>
              </a:rPr>
              <a:t>CONTROLLERS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23591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Scout Cloud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Windows Node controller role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other approved clients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2926080" cy="1901952"/>
          </a:xfrm>
          <a:prstGeom prst="roundRect">
            <a:avLst>
              <a:gd name="adj" fmla="val 2885"/>
            </a:avLst>
          </a:prstGeom>
          <a:solidFill>
            <a:srgbClr val="FFF7D6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664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A83B"/>
                </a:solidFill>
              </a:rPr>
              <a:t>OPENCLAW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5A83B"/>
                </a:solidFill>
              </a:rPr>
              <a:t>GATEWAY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23591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authentication + policy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sessions + audit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revocation + routing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54112" y="1371600"/>
            <a:ext cx="2926080" cy="1901952"/>
          </a:xfrm>
          <a:prstGeom prst="roundRect">
            <a:avLst>
              <a:gd name="adj" fmla="val 2885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74152" y="1664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C7D"/>
                </a:solidFill>
              </a:rPr>
              <a:t>REUSABLE RUST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C7C7D"/>
                </a:solidFill>
              </a:rPr>
              <a:t>NODE RUNTIME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5915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openclaw-gateway-client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openclaw-node-host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</a:rPr>
              <a:t>one node protocol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94176" y="2103120"/>
            <a:ext cx="347472" cy="384048"/>
          </a:xfrm>
          <a:prstGeom prst="chevron">
            <a:avLst/>
          </a:prstGeom>
          <a:solidFill>
            <a:srgbClr val="5F6973"/>
          </a:solidFill>
          <a:ln w="12700">
            <a:solidFill>
              <a:srgbClr val="5F69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2103120"/>
            <a:ext cx="347472" cy="384048"/>
          </a:xfrm>
          <a:prstGeom prst="chevron">
            <a:avLst/>
          </a:prstGeom>
          <a:solidFill>
            <a:srgbClr val="5F6973"/>
          </a:solidFill>
          <a:ln w="12700">
            <a:solidFill>
              <a:srgbClr val="5F69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973"/>
                </a:solidFill>
              </a:rPr>
              <a:t>Gateway APIs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48272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973"/>
                </a:solidFill>
              </a:rPr>
              <a:t>node session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17152" y="3273552"/>
            <a:ext cx="0" cy="41148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0680" y="3685032"/>
            <a:ext cx="3776472" cy="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3685032"/>
            <a:ext cx="0" cy="32004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7152" y="3685032"/>
            <a:ext cx="0" cy="320040"/>
          </a:xfrm>
          <a:prstGeom prst="line">
            <a:avLst/>
          </a:prstGeom>
          <a:noFill/>
          <a:ln w="25400">
            <a:solidFill>
              <a:srgbClr val="1C7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340156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C7D"/>
                </a:solidFill>
              </a:rPr>
              <a:t>shared runtime crates through a product-owned adapter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06240" y="4005072"/>
            <a:ext cx="2926080" cy="1481328"/>
          </a:xfrm>
          <a:prstGeom prst="roundRect">
            <a:avLst>
              <a:gd name="adj" fmla="val 3704"/>
            </a:avLst>
          </a:prstGeom>
          <a:solidFill>
            <a:srgbClr val="FFF2E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425196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3525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FIRST PROPOSED HOST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53712" y="48280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12B"/>
                </a:solidFill>
              </a:rPr>
              <a:t>COPILOT SYSTEM TRAY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80560" y="5138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973"/>
                </a:solidFill>
              </a:rPr>
              <a:t>native tools | approvals | packaging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54112" y="4005072"/>
            <a:ext cx="2926080" cy="1481328"/>
          </a:xfrm>
          <a:prstGeom prst="roundRect">
            <a:avLst>
              <a:gd name="adj" fmla="val 3704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8472" y="4251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43525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SECOND ADOPTER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38160" y="48280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12B"/>
                </a:solidFill>
              </a:rPr>
              <a:t>WINDOWS NODE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46720" y="51023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973"/>
                </a:solidFill>
              </a:rPr>
              <a:t>Windows tools | dispatcher | packaging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F6973"/>
                </a:solidFill>
              </a:rPr>
              <a:t>also may use the Gateway controller role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Proposed split: OpenClaw maintains the reusable runtime; Microsoft maintains its product shells and adapters.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TOPIC 6 | CLAWS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Claws option: a setup manifest with requirements-style dependencies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Claws project | option for discussion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5166360" cy="4041648"/>
          </a:xfrm>
          <a:prstGeom prst="roundRect">
            <a:avLst>
              <a:gd name="adj" fmla="val 1357"/>
            </a:avLst>
          </a:prstGeom>
          <a:solidFill>
            <a:srgbClr val="DCE9DF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682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865B"/>
                </a:solidFill>
              </a:rPr>
              <a:t>research-assistant.claw.yaml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176272"/>
            <a:ext cx="4526280" cy="23317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research-assistant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skills: [research, summarize]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files: [AGENTS.md, persona.md]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automations: [daily-brief]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@microsoft/workiq@^3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@openclaw/memory@^2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@openclaw/msteams@^1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489204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7865B"/>
                </a:solidFill>
              </a:rPr>
              <a:t>The manifest records package requirements; package code stays external.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925312" y="2880360"/>
            <a:ext cx="329184" cy="566928"/>
          </a:xfrm>
          <a:prstGeom prst="chevron">
            <a:avLst/>
          </a:prstGeom>
          <a:solidFill>
            <a:srgbClr val="5F6973"/>
          </a:solidFill>
          <a:ln w="12700">
            <a:solidFill>
              <a:srgbClr val="5F69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353312"/>
            <a:ext cx="5120640" cy="4041648"/>
          </a:xfrm>
          <a:prstGeom prst="roundRect">
            <a:avLst>
              <a:gd name="adj" fmla="val 1357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48272" y="168249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078A5"/>
                </a:solidFill>
              </a:rPr>
              <a:t>NORMAL PACKAGE RESOLUTION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12280" y="2267712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36829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CLAW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13648" y="2286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7212B"/>
                </a:solidFill>
              </a:rPr>
              <a:t>would declare the desired setup and package requirements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6812280" y="2980944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08152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RESOLVER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13648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7212B"/>
                </a:solidFill>
              </a:rPr>
              <a:t>would validate compatibility and preview installation or update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6812280" y="3694176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7947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PLUGIN PACKAGE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13648" y="3712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7212B"/>
                </a:solidFill>
              </a:rPr>
              <a:t>owns code and lifecycle; declares requested permissions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6812280" y="4407408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450799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HOST / ADMIN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13648" y="44256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7212B"/>
                </a:solidFill>
              </a:rPr>
              <a:t>grants permissions and enforces deployment policy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6784848" y="48646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10" b="1" dirty="0">
                <a:solidFill>
                  <a:srgbClr val="4078A5"/>
                </a:solidFill>
              </a:rPr>
              <a:t>In this option, a Claw would name dependencies without defining the plugin package format.</a:t>
            </a:r>
            <a:endParaRPr lang="en-US" sz="1310" dirty="0"/>
          </a:p>
        </p:txBody>
      </p:sp>
      <p:sp>
        <p:nvSpPr>
          <p:cNvPr id="28" name="Text 26"/>
          <p:cNvSpPr/>
          <p:nvPr/>
        </p:nvSpPr>
        <p:spPr>
          <a:xfrm>
            <a:off x="1280160" y="5532120"/>
            <a:ext cx="9646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i="1" dirty="0">
                <a:solidFill>
                  <a:srgbClr val="5F6973"/>
                </a:solidFill>
              </a:rPr>
              <a:t>Alternative: align with the internal MOS3 package format and omit the Claw composition layer.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60120" y="587044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61872" y="6035040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Option to discuss: keep plugins independent and let the Claw record versioned package requirements.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HOSTED UX | DASHBOARDS AND WIDGETS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Reuse OpenClaw's UX while Scout governs the hosted experience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Lobster #6121 merged + patch 0019 | OpenClaw #115408 draft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3456432" cy="3493008"/>
          </a:xfrm>
          <a:prstGeom prst="roundRect">
            <a:avLst>
              <a:gd name="adj" fmla="val 1587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976" y="1682496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C7C7D"/>
                </a:solidFill>
              </a:rPr>
              <a:t>OPENCLAW OWNS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50976" y="217627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12B"/>
                </a:solidFill>
              </a:rPr>
              <a:t>VERSION-MATCHED UX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42416" y="2816352"/>
            <a:ext cx="2697480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chat, sessions, and settings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dashboard pages and widget rendering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Gateway behavior and valid settings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routes, components, and accessibility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456432" cy="3493008"/>
          </a:xfrm>
          <a:prstGeom prst="roundRect">
            <a:avLst>
              <a:gd name="adj" fmla="val 1587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682496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078A5"/>
                </a:solidFill>
              </a:rPr>
              <a:t>SCOUT HOSTS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73168" y="217627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12B"/>
                </a:solidFill>
              </a:rPr>
              <a:t>MANAGED DELIVERY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64608" y="2816352"/>
            <a:ext cx="2697480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Entra and tenant admission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same-origin Gateway relay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navigation, rollout, and telemetry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version-matched asset deployment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302752" y="1371600"/>
            <a:ext cx="3456432" cy="3493008"/>
          </a:xfrm>
          <a:prstGeom prst="roundRect">
            <a:avLst>
              <a:gd name="adj" fmla="val 1587"/>
            </a:avLst>
          </a:prstGeom>
          <a:solidFill>
            <a:srgbClr val="FFF2E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0" y="1682496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5D32"/>
                </a:solidFill>
              </a:rPr>
              <a:t>HOST POLICY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95360" y="217627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12B"/>
                </a:solidFill>
              </a:rPr>
              <a:t>GOVERNED EXPERIENCE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0" y="2816352"/>
            <a:ext cx="2697480" cy="1481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hide irrelevant pages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show governed settings read-only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disable delete and admin controls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17212B"/>
                </a:solidFill>
              </a:rPr>
              <a:t>deny forbidden methods server-side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5166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973"/>
                </a:solidFill>
              </a:rPr>
              <a:t>ADOPT BY ROUTE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67712" y="504748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152" y="5148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/chat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47872" y="504748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51480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/sessions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02352" y="504748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51480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/settings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56832" y="504748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51480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/dashboards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77072" y="5047488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5F6973"/>
          </a:solidFill>
          <a:ln w="12700">
            <a:solidFill>
              <a:srgbClr val="5F69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51480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FALLBACK: EXISTING LOBSTER UI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" y="5925312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95D32"/>
                </a:solidFill>
              </a:rPr>
              <a:t>Dashboard pages can be hosted now. Individual widgets in Lobster pages still need an agreed integration approach.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C95D32"/>
                </a:solidFill>
              </a:rPr>
              <a:t>WORKING CLOSE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Name the OpenClaw and Microsoft owner for each topic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6973"/>
                </a:solidFill>
              </a:rPr>
              <a:t>SCOUT / OPENCLAW ALIGNMENT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5D32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7335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7393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41448" y="15910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12B"/>
                </a:solidFill>
              </a:rPr>
              <a:t>Supported stop, capture, restore, readiness, and ownership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54496" y="135331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FFFDF8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67335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77393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MEMORY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37576" y="15910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12B"/>
                </a:solidFill>
              </a:rPr>
              <a:t>Canonical source plus provider and portability hooks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8368" y="267919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FFFDF8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299923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9981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MEMORY ACL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41448" y="291693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12B"/>
                </a:solidFill>
              </a:rPr>
              <a:t>Enforcement and revocation across owners and indexes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254496" y="267919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299923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09981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MAIL AUTH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37576" y="291693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12B"/>
                </a:solidFill>
              </a:rPr>
              <a:t>Microsoft plugin with generic auth and approval hooks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658368" y="400507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32511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42569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 / RUST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41448" y="42428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12B"/>
                </a:solidFill>
              </a:rPr>
              <a:t>Protocol owner, runtime owner, and first supported profile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254496" y="400507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FFFDF8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10528" y="4325112"/>
            <a:ext cx="1261872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442569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CLAWS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37576" y="42428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12B"/>
                </a:solidFill>
              </a:rPr>
              <a:t>Consider a setup manifest with external package dependencies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1234440" y="5504688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E9E8E3"/>
          </a:solidFill>
          <a:ln w="1143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72768" y="571500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12B"/>
                </a:solidFill>
              </a:rPr>
              <a:t>For each topic: OpenClaw owner + Microsoft owner + September slice + path to support.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78A5"/>
                </a:solidFill>
              </a:rPr>
              <a:t>APPENDIX | 27 ORIGINAL PR #6839 PATCH INPUTS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The first nine patches: Teams, secrets, and scheduled work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4078A5"/>
                </a:solidFill>
              </a:rPr>
              <a:t>APPENDIX / REFERENCE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Lobster PR #6839 patch ledger | original physical inputs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78A5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36192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078A5"/>
                </a:solidFill>
              </a:rPr>
              <a:t>Teams upstream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50392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General streaming, threading, quoting, and attachment fixes.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480560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078A5"/>
                </a:solidFill>
              </a:rPr>
              <a:t>Teams brokered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709160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Brokered auth, guarded Graph egress, dedupe, and multiplayer routing.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339328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0496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1936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53728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C7C7D"/>
                </a:solidFill>
              </a:rPr>
              <a:t>WebIQ secrets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8567928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Allow exact keyless proxied startup without weakening other secret resolution.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1792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36192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E5A83B"/>
                </a:solidFill>
              </a:rPr>
              <a:t>Cron target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50392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A successful bare announcement does not fail only because no target resolves.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480560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E5A83B"/>
                </a:solidFill>
              </a:rPr>
              <a:t>Tool-less cron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4709160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Permit an intentionally empty tool list for scheduled work.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339328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40496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31936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53728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E5A83B"/>
                </a:solidFill>
              </a:rPr>
              <a:t>Restarted cron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8567928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Record interrupted startup work as skipped instead of a new hard failure.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21792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36192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E5A83B"/>
                </a:solidFill>
              </a:rPr>
              <a:t>Cron identity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850392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Add job and run identity hooks for later approval enforcement.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4480560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81728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08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94960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E5A83B"/>
                </a:solidFill>
              </a:rPr>
              <a:t>Cron owner fence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4709160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Only the current Passport owner may execute an occurrence.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8339328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540496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09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253728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E5A83B"/>
                </a:solidFill>
              </a:rPr>
              <a:t>Cron preapproval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8567928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Bind staged approval to the exact job version and requested action.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78A5"/>
                </a:solidFill>
              </a:rPr>
              <a:t>APPENDIX | 27 ORIGINAL PR #6839 PATCH INPUTS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Patches 10-18: policy, memory, nodes, and Teams behavior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4078A5"/>
                </a:solidFill>
              </a:rPr>
              <a:t>APPENDIX / REFERENCE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Lobster PR #6839 patch ledger | original physical inputs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78A5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36192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7865B"/>
                </a:solidFill>
              </a:rPr>
              <a:t>Managed personality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50392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Layer a host-provided system prompt onto the normal persona.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480560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B64C4C"/>
                </a:solidFill>
              </a:rPr>
              <a:t>Nested tool checks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709160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Apply one fail-closed authorization hook to nested effects.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339328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0496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1936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53728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078A5"/>
                </a:solidFill>
              </a:rPr>
              <a:t>Teams uploads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8567928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Download directly uploaded Bot Framework files through brokered auth.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1792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36192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C7C7D"/>
                </a:solidFill>
              </a:rPr>
              <a:t>Approved node output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50392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Preserve long multiline output after an approved node action.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480560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B64C4C"/>
                </a:solidFill>
              </a:rPr>
              <a:t>Session sensitivity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4709160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Carry a server-resolved sensitivity label for the chat badge.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339328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40496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31936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53728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7865B"/>
                </a:solidFill>
              </a:rPr>
              <a:t>Channel context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8567928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Tell plugins which delivery surface and binding shape apply.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21792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16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36192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C7C7D"/>
                </a:solidFill>
              </a:rPr>
              <a:t>Memory viewer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850392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Expose a bounded read-only list of persisted OpenClaw memory.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4480560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81728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17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94960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B64C4C"/>
                </a:solidFill>
              </a:rPr>
              <a:t>Approval token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4709160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Relay a signed capability token through the existing approval path.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8339328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540496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253728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078A5"/>
                </a:solidFill>
              </a:rPr>
              <a:t>Teams reactions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8567928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Support agent-initiated reactions through the Lobster broker.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78A5"/>
                </a:solidFill>
              </a:rPr>
              <a:t>APPENDIX | 27 ORIGINAL PR #6839 PATCH INPUTS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Patches 19-27: hosted UX, storage, reliability, and labels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4078A5"/>
                </a:solidFill>
              </a:rPr>
              <a:t>APPENDIX / REFERENCE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Lobster PR #6839 patch ledger | original physical inputs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78A5"/>
                </a:solidFill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36192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078A5"/>
                </a:solidFill>
              </a:rPr>
              <a:t>Hosted Control UI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50392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Hide routes, make settings read-only, and disable destructive controls.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480560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C7C7D"/>
                </a:solidFill>
              </a:rPr>
              <a:t>Session write retry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709160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Serialize initialization writes and retry real writer conflicts.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339328" y="1298448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0496" y="146304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1936" y="1563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53728" y="1472184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7865B"/>
                </a:solidFill>
              </a:rPr>
              <a:t>DoltLite adapter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8567928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Allow an opt-in SQLite-compatible engine with stock SQLite fallback.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1792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36192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C7C7D"/>
                </a:solidFill>
              </a:rPr>
              <a:t>Node deadlines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50392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Preserve ordered deadlines and report late or disconnected outcomes clearly.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480560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5F6973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5F6973"/>
          </a:solidFill>
          <a:ln w="12700">
            <a:solidFill>
              <a:srgbClr val="5F69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5F6973"/>
                </a:solidFill>
              </a:rPr>
              <a:t>Fast test order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4709160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Run the pinned source's scoped unit-fast lane deterministically.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339328" y="2834640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40496" y="299923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31936" y="30998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53728" y="30083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E5A83B"/>
                </a:solidFill>
              </a:rPr>
              <a:t>Cron drain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8567928" y="343814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Wait for in-flight scheduled work before shutdown cleanup.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21792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36192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B64C4C"/>
                </a:solidFill>
              </a:rPr>
              <a:t>Context sensitivity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850392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Derive the effective label from items still present in active context.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4480560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81728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94960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4078A5"/>
                </a:solidFill>
              </a:rPr>
              <a:t>Reaction target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4709160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Name the exact Teams message targeted by an inbound reaction.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8339328" y="4370832"/>
            <a:ext cx="3493008" cy="1261872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540496" y="453542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46360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27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253728" y="45445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B64C4C"/>
                </a:solidFill>
              </a:rPr>
              <a:t>Per-send sensitivity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8567928" y="49743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12B"/>
                </a:solidFill>
              </a:rPr>
              <a:t>Attach the active context label to every final Teams send.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78A5"/>
                </a:solidFill>
              </a:rPr>
              <a:t>APPENDIX | PROXYPIPE REFERENCE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ProxyPipe is the current host bridge; the target is a smaller set of supported interfaces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4078A5"/>
                </a:solidFill>
              </a:rPr>
              <a:t>APPENDIX / REFERENCE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Hosted Integration ProxyPipe decomposition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78A5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5349240" cy="4389120"/>
          </a:xfrm>
          <a:prstGeom prst="roundRect">
            <a:avLst>
              <a:gd name="adj" fmla="val 1250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719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078A5"/>
                </a:solidFill>
              </a:rPr>
              <a:t>RESPONSIBILITIES TODAY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24128" y="228600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38658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TRAFFIC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2B"/>
                </a:solidFill>
              </a:rPr>
              <a:t>out of runtime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228600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38658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CHANNEL EVENTS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27249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2B"/>
                </a:solidFill>
              </a:rPr>
              <a:t>both directions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4128" y="3127248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22783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HOST WAKE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4128" y="356616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2B"/>
                </a:solidFill>
              </a:rPr>
              <a:t>in to runtime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3127248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322783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CREDENTIALS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356616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2B"/>
                </a:solidFill>
              </a:rPr>
              <a:t>bound without exposing secrets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4128" y="3968496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06908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 CONTROL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" y="44074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2B"/>
                </a:solidFill>
              </a:rPr>
              <a:t>both directions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3968496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406908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TEAMS DELIVERY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0128" y="44074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12B"/>
                </a:solidFill>
              </a:rPr>
              <a:t>ingress and delivery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0488" y="1371600"/>
            <a:ext cx="5349240" cy="4389120"/>
          </a:xfrm>
          <a:prstGeom prst="roundRect">
            <a:avLst>
              <a:gd name="adj" fmla="val 1250"/>
            </a:avLst>
          </a:prstGeom>
          <a:solidFill>
            <a:srgbClr val="EEF6F2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9672" y="1719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C7D"/>
                </a:solidFill>
              </a:rPr>
              <a:t>SUPPORTED END STATE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601968" y="230428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2404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OPENCLAW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2331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7212B"/>
                </a:solidFill>
              </a:rPr>
              <a:t>portable request, channel, lifecycle, node, and approval interfaces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601968" y="324612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33467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MICROSOFT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66760" y="32735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7212B"/>
                </a:solidFill>
              </a:rPr>
              <a:t>tenant identity, policy, credentials, routing, and service operations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6601968" y="418795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42885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HOST BINDING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66760" y="42153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7212B"/>
                </a:solidFill>
              </a:rPr>
              <a:t>thin transport that carries owner-prepared requests and results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960120" y="5897880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6062472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212B"/>
                </a:solidFill>
              </a:rPr>
              <a:t>Reference principle: keep ownership in the product or host; keep the bridge focused on transport.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4078A5"/>
                </a:solidFill>
              </a:rPr>
              <a:t>APPENDIX | WHY MULTIPLE PROPOSALS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The RFCs separate owner decisions that can move independently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6519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4078A5"/>
                </a:solidFill>
              </a:rPr>
              <a:t>APPENDIX / REFERENCE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6464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973"/>
                </a:solidFill>
              </a:rPr>
              <a:t>EnterpriseClaw and OpenClaw RFC portfolio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78A5"/>
                </a:solidFill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89888"/>
            <a:ext cx="3456432" cy="1536192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1430">
            <a:solidFill>
              <a:srgbClr val="C95D32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45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C95D32"/>
          </a:solidFill>
          <a:ln w="12700">
            <a:solidFill>
              <a:srgbClr val="C95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46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223113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7212B"/>
                </a:solidFill>
              </a:rPr>
              <a:t>capture, restore, wake, readiness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4480560" y="1389888"/>
            <a:ext cx="3456432" cy="1536192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1430">
            <a:solidFill>
              <a:srgbClr val="4078A5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645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4078A5"/>
          </a:solidFill>
          <a:ln w="12700">
            <a:solidFill>
              <a:srgbClr val="4078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746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CONFIG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23113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7212B"/>
                </a:solidFill>
              </a:rPr>
              <a:t>who controls each setting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302752" y="1389888"/>
            <a:ext cx="3456432" cy="1536192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1430">
            <a:solidFill>
              <a:srgbClr val="1C7C7D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58784" y="1645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0224" y="1746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MEMORY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77072" y="223113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7212B"/>
                </a:solidFill>
              </a:rPr>
              <a:t>scope, lifecycle, retrieval, mutation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58368" y="3310128"/>
            <a:ext cx="3456432" cy="1536192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1430">
            <a:solidFill>
              <a:srgbClr val="E5A83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566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E5A83B"/>
          </a:solidFill>
          <a:ln w="12700">
            <a:solidFill>
              <a:srgbClr val="E5A8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6667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" y="41513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7212B"/>
                </a:solidFill>
              </a:rPr>
              <a:t>protocol, trust, invocation, Rust profile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4480560" y="3310128"/>
            <a:ext cx="3456432" cy="1536192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1430">
            <a:solidFill>
              <a:srgbClr val="47865B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3566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47865B"/>
          </a:solidFill>
          <a:ln w="12700">
            <a:solidFill>
              <a:srgbClr val="4786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6667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EXTENSIONS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41513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7212B"/>
                </a:solidFill>
              </a:rPr>
              <a:t>plugins, skills, Claws, approvals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8302752" y="3310128"/>
            <a:ext cx="3456432" cy="1536192"/>
          </a:xfrm>
          <a:prstGeom prst="roundRect">
            <a:avLst>
              <a:gd name="adj" fmla="val 3571"/>
            </a:avLst>
          </a:prstGeom>
          <a:solidFill>
            <a:srgbClr val="FFFDF8"/>
          </a:solidFill>
          <a:ln w="11430">
            <a:solidFill>
              <a:srgbClr val="B64C4C"/>
            </a:solidFill>
            <a:prstDash val="solid"/>
          </a:ln>
          <a:effectLst>
            <a:outerShdw blurRad="38100" dist="1905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58784" y="3566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B64C4C"/>
          </a:solidFill>
          <a:ln w="12700">
            <a:solidFill>
              <a:srgbClr val="B64C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0224" y="36667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HOSTING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77072" y="41513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7212B"/>
                </a:solidFill>
              </a:rPr>
              <a:t>UX policy, lifecycle, release compatibility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1143000" y="5376672"/>
            <a:ext cx="9921240" cy="685800"/>
          </a:xfrm>
          <a:prstGeom prst="roundRect">
            <a:avLst>
              <a:gd name="adj" fmla="val 8000"/>
            </a:avLst>
          </a:prstGeom>
          <a:solidFill>
            <a:srgbClr val="DDEAF3"/>
          </a:solidFill>
          <a:ln w="11430">
            <a:solidFill>
              <a:srgbClr val="4078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8760" y="5605272"/>
            <a:ext cx="9189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12B"/>
                </a:solidFill>
              </a:rPr>
              <a:t>Use the portfolio as reference while focusing the discussion on Omar's six priorities.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1929</Words>
  <Application>Microsoft Office PowerPoint</Application>
  <PresentationFormat>Widescreen</PresentationFormat>
  <Paragraphs>413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+ OpenClaw: September alignment</dc:title>
  <dc:subject>Shared Scout and OpenClaw priorities for September</dc:subject>
  <dc:creator>Gio</dc:creator>
  <cp:lastModifiedBy>Gio Della-Libera</cp:lastModifiedBy>
  <cp:revision>1</cp:revision>
  <dcterms:created xsi:type="dcterms:W3CDTF">2026-08-05T18:04:41Z</dcterms:created>
  <dcterms:modified xsi:type="dcterms:W3CDTF">2026-08-05T18:04:41Z</dcterms:modified>
</cp:coreProperties>
</file>